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57" r:id="rId5"/>
    <p:sldId id="258" r:id="rId6"/>
    <p:sldId id="259" r:id="rId7"/>
    <p:sldId id="260" r:id="rId8"/>
    <p:sldId id="261" r:id="rId9"/>
    <p:sldId id="265" r:id="rId10"/>
    <p:sldId id="274" r:id="rId11"/>
    <p:sldId id="275" r:id="rId12"/>
    <p:sldId id="277" r:id="rId13"/>
    <p:sldId id="278" r:id="rId14"/>
    <p:sldId id="272" r:id="rId15"/>
    <p:sldId id="276" r:id="rId16"/>
    <p:sldId id="280" r:id="rId17"/>
    <p:sldId id="266" r:id="rId18"/>
    <p:sldId id="268" r:id="rId19"/>
    <p:sldId id="271" r:id="rId20"/>
    <p:sldId id="267" r:id="rId21"/>
    <p:sldId id="269" r:id="rId22"/>
    <p:sldId id="273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048E-7CEF-A171-6896-5D70A5B29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8B81-4FC2-7B3B-195F-A4DA0E9F7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1B24D-D203-ABF2-F77F-B4E0919C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0C71-79F8-AC85-5930-45D106A5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B6CE7-BAAC-3ADC-BDEB-29AD606A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5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396B-4B70-F56E-5377-BE9F9955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A0C9-378E-DAE7-6493-6BC530F7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6FF87-D826-9B8A-D352-33A463DF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EB6A0-B487-965D-4836-1D5075A2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1BCD-73EC-4D30-6A63-CB3FF927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0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0B1D-966E-6039-8F47-2721D8C5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4EA4C-8224-5809-6281-AA9428C57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75040-2611-FA1B-A139-A1701FDC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C3DB-F580-8CBA-74D3-E91BCFFD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85E8C-7F95-8D34-A02A-8BA80AAE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2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6674-9BF8-31E1-4CA5-66513211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7D970-F954-0115-5AFD-D8ED33A65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2AED4-A2C7-CFDA-5CC7-CAECC470C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8992F-F800-EF90-E948-F059CAC0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F646-1005-FE13-6EDA-3BF0CE3E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1855-A4CE-0BA1-8233-5F591BC7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5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87BC-5C00-CD67-1974-97D14432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61EB-2E21-9600-083F-A629393D7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5110B-4D57-EEC1-2614-694F23306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E9769-B027-13B3-4E06-A710D2854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53478-E918-5E09-7BC6-D7A085D89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6C372-B923-E13E-65F8-7F4DE469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E18AA-61B9-BA5C-2EAA-A49FA855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2DE81-F44B-1AE2-5138-5DEC96BF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3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FB06-816D-1B0B-00FD-F2A941F6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27936-980B-9F9E-D4D9-D0E90DC9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AFB58-B324-2CCB-F08C-8E1B277C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890B4-0DA7-2DA9-B3C3-ABC4DF3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1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65529-4C61-390B-7889-932F0A9B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29EB3C-8BB1-BE92-1FAB-031AF353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75534-1843-B9E0-9321-5B40542A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3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5214-78BF-4650-C148-4C2C91FE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8324-794A-9D6F-1653-FCE91B1E5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420D4-AF47-8829-E1AA-7530AE790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2CFE5-3D0C-5CBE-8872-DFBC7580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8C37E-3022-064F-29D6-C3A3B02C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AADE4-7EFB-0B99-7CD8-12881F8F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1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DBFF9-CC46-CE4D-0F96-B48F16D4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1727E-C52E-61E1-5336-BC37DDACF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C10D9-3F6B-4C2C-40C6-24C761EB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26ADD-3523-0991-921F-526309C45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43413-8956-5F6D-647C-563A196F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921CB-415D-3018-8C5E-099E2BFC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3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3793-64C2-4E94-B286-9A8958E8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01F8B-6D18-D3BD-062B-590ED2836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08DA-14B1-3344-19A2-2326CC0C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2D886-F412-5B5D-C5E6-3F7E9071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C7BF1-B05E-9CFB-DFC5-7208BE58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22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D3DC1-062C-B12C-CEF8-0E59AA9F9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C4C5-9655-83FE-2DB3-4492E1C1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155B4-DF61-DCD2-B855-5A5C434A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129F-7990-0E26-68D3-C7081E83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8E4D5-A200-CAEA-371F-4C3C3398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7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C03D6-1F12-EFAE-80BB-C4630D08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BA37-FA6F-F5C4-DF71-9A97A5C6A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0B9B-F775-C454-E1DC-604FB7631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89C8C-62AB-421A-B1CF-B2B9810D35B0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F645-364C-08BE-7298-0ACB0C330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20373-CF2A-D782-8039-1EF946A89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2791B-6802-4A00-9DE0-0677AD176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60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772E-76F7-63FF-B532-33CECE6041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HOSPITAL PATIENT VITAL SIGNS MONITOR DASHBOARD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C9871-D2D5-A920-577E-E09FCE7A5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3485" y="3509963"/>
            <a:ext cx="6926826" cy="2310734"/>
          </a:xfrm>
        </p:spPr>
        <p:txBody>
          <a:bodyPr>
            <a:normAutofit/>
          </a:bodyPr>
          <a:lstStyle/>
          <a:p>
            <a:r>
              <a:rPr lang="en-US" dirty="0"/>
              <a:t>Guided </a:t>
            </a:r>
            <a:r>
              <a:rPr lang="en-US" dirty="0" err="1"/>
              <a:t>by:Dr.jaisharma</a:t>
            </a:r>
            <a:endParaRPr lang="en-US" dirty="0"/>
          </a:p>
          <a:p>
            <a:r>
              <a:rPr lang="en-US" dirty="0"/>
              <a:t>Presented by:</a:t>
            </a:r>
          </a:p>
          <a:p>
            <a:r>
              <a:rPr lang="en-US" dirty="0"/>
              <a:t>Madhumitha Ch S - [1921260101]</a:t>
            </a:r>
          </a:p>
          <a:p>
            <a:r>
              <a:rPr lang="en-US" dirty="0"/>
              <a:t>M Jayaprithika – [1921260063]</a:t>
            </a:r>
          </a:p>
          <a:p>
            <a:r>
              <a:rPr lang="en-US" dirty="0"/>
              <a:t>CSA0704 – COMPUTER NETWORKS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71E64-CBAB-119B-C48B-402FD60C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2" t="-667" r="1284" b="6003"/>
          <a:stretch>
            <a:fillRect/>
          </a:stretch>
        </p:blipFill>
        <p:spPr>
          <a:xfrm>
            <a:off x="157316" y="0"/>
            <a:ext cx="11360372" cy="145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6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02BB-02ED-188C-4880-35120735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93" y="798262"/>
            <a:ext cx="10515600" cy="1325563"/>
          </a:xfrm>
        </p:spPr>
        <p:txBody>
          <a:bodyPr/>
          <a:lstStyle/>
          <a:p>
            <a:r>
              <a:rPr lang="en-US" b="1" dirty="0"/>
              <a:t>Table of Contents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D5E97C-9D30-958C-5C97-830B35A0D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709"/>
            <a:ext cx="10515600" cy="463516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2400" b="1" dirty="0"/>
          </a:p>
          <a:p>
            <a:r>
              <a:rPr lang="en-IN" sz="8000" b="1" dirty="0"/>
              <a:t>Introduction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Abstract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Problem Statement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Objectives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System Architecture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Dashboard Features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Implementation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Results and Discussion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Advantages and Applications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Challenges and Limitations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Future Scope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Conclusion</a:t>
            </a:r>
            <a:r>
              <a:rPr lang="en-IN" sz="8000" dirty="0"/>
              <a:t> </a:t>
            </a:r>
          </a:p>
          <a:p>
            <a:pPr lvl="0"/>
            <a:r>
              <a:rPr lang="en-IN" sz="8000" b="1" dirty="0"/>
              <a:t>References</a:t>
            </a:r>
            <a:r>
              <a:rPr lang="en-IN" sz="8000" dirty="0"/>
              <a:t>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F03795-12A0-27AF-4D94-1F49F8F1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6F53C4B8-A956-3C0A-335D-BBC8AA693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7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F142-368B-8D32-7D72-FD8C2771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365126"/>
            <a:ext cx="10655710" cy="873740"/>
          </a:xfrm>
        </p:spPr>
        <p:txBody>
          <a:bodyPr/>
          <a:lstStyle/>
          <a:p>
            <a:r>
              <a:rPr lang="en-US" b="1" dirty="0"/>
              <a:t>I                             </a:t>
            </a:r>
            <a:r>
              <a:rPr lang="en-US" sz="5400" b="1" dirty="0"/>
              <a:t>INTRODUCTION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F8EB-4C6E-DA34-F1A4-DC940A58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</a:t>
            </a:r>
            <a:r>
              <a:rPr lang="en-IN" b="1" dirty="0"/>
              <a:t>digital dashboard</a:t>
            </a:r>
            <a:r>
              <a:rPr lang="en-IN" dirty="0"/>
              <a:t> used to monitor a patient’s vital signs. </a:t>
            </a:r>
          </a:p>
          <a:p>
            <a:pPr lvl="0"/>
            <a:r>
              <a:rPr lang="en-IN" dirty="0"/>
              <a:t>Displays important health parameters in </a:t>
            </a:r>
            <a:r>
              <a:rPr lang="en-IN" b="1" dirty="0"/>
              <a:t>real time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Monitors </a:t>
            </a:r>
            <a:r>
              <a:rPr lang="en-IN" b="1" dirty="0"/>
              <a:t>heart rate, blood pressure, temperature, SpO₂, and respiratory rate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Helps doctors and nurses </a:t>
            </a:r>
            <a:r>
              <a:rPr lang="en-IN" b="1" dirty="0"/>
              <a:t>track patient health easily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Provides </a:t>
            </a:r>
            <a:r>
              <a:rPr lang="en-IN" b="1" dirty="0"/>
              <a:t>quick alerts</a:t>
            </a:r>
            <a:r>
              <a:rPr lang="en-IN" dirty="0"/>
              <a:t> when readings become abnormal. </a:t>
            </a:r>
          </a:p>
          <a:p>
            <a:pPr lvl="0"/>
            <a:r>
              <a:rPr lang="en-IN" dirty="0"/>
              <a:t>Improves </a:t>
            </a:r>
            <a:r>
              <a:rPr lang="en-IN" b="1" dirty="0"/>
              <a:t>continuous patient monitoring and timely medical care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E1EC1-3AE8-8398-5B3C-0C734543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87D3FA2C-B80C-D109-25D1-0838FC649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0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0405-316A-9ECA-1E1B-1E2C27B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</a:t>
            </a:r>
            <a:r>
              <a:rPr lang="en-US" sz="5400" b="1" dirty="0"/>
              <a:t>ABSTRACT</a:t>
            </a:r>
            <a:endParaRPr lang="en-IN" sz="54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503B13-9018-D299-639B-0562DE8E8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D5F23-377C-32F2-6F7D-7272FEA5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44245"/>
            <a:ext cx="1092693" cy="13255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633240-E5FF-8071-7F20-2ED5FD071669}"/>
              </a:ext>
            </a:extLst>
          </p:cNvPr>
          <p:cNvSpPr txBox="1"/>
          <p:nvPr/>
        </p:nvSpPr>
        <p:spPr>
          <a:xfrm>
            <a:off x="838200" y="2011568"/>
            <a:ext cx="108725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The </a:t>
            </a:r>
            <a:r>
              <a:rPr lang="en-IN" sz="3200" b="1" dirty="0"/>
              <a:t>Hospital Patient Vital Signs Monitor Dashboard</a:t>
            </a:r>
            <a:r>
              <a:rPr lang="en-IN" sz="3200" dirty="0"/>
              <a:t> is a digital system designed to monitor and display patients’ vital signs in real time. It tracks parameters such as </a:t>
            </a:r>
            <a:r>
              <a:rPr lang="en-IN" sz="3200" b="1" dirty="0"/>
              <a:t>heart rate, blood pressure, temperature, SpO₂, and respiratory rate</a:t>
            </a:r>
            <a:r>
              <a:rPr lang="en-IN" sz="3200" dirty="0"/>
              <a:t>. The dashboard provides clear visual information and alerts for abnormal readings, helping healthcare professionals monitor patients efficiently and provide timely care.</a:t>
            </a:r>
          </a:p>
        </p:txBody>
      </p:sp>
    </p:spTree>
    <p:extLst>
      <p:ext uri="{BB962C8B-B14F-4D97-AF65-F5344CB8AC3E}">
        <p14:creationId xmlns:p14="http://schemas.microsoft.com/office/powerpoint/2010/main" val="342617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B690-7A7B-9417-72F6-E5BB51BB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07027"/>
            <a:ext cx="9476461" cy="1043115"/>
          </a:xfrm>
        </p:spPr>
        <p:txBody>
          <a:bodyPr/>
          <a:lstStyle/>
          <a:p>
            <a:r>
              <a:rPr lang="en-US" b="1" dirty="0"/>
              <a:t>                     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85D6F-7F49-4E8B-41D2-141F0C064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Manual monitoring of patient vital signs can be </a:t>
            </a:r>
            <a:r>
              <a:rPr lang="en-IN" b="1" dirty="0"/>
              <a:t>time-consuming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Continuous changes in vital signs may not be noticed immediately. </a:t>
            </a:r>
          </a:p>
          <a:p>
            <a:pPr lvl="0"/>
            <a:r>
              <a:rPr lang="en-IN" dirty="0"/>
              <a:t>Patient health data can be </a:t>
            </a:r>
            <a:r>
              <a:rPr lang="en-IN" b="1" dirty="0"/>
              <a:t>difficult to organize and track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Healthcare staff need a </a:t>
            </a:r>
            <a:r>
              <a:rPr lang="en-IN" b="1" dirty="0"/>
              <a:t>centralized monitoring system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 real-time dashboard is needed to </a:t>
            </a:r>
            <a:r>
              <a:rPr lang="en-IN" b="1" dirty="0"/>
              <a:t>display vital signs and identify abnormal readings quickly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aims to improve </a:t>
            </a:r>
            <a:r>
              <a:rPr lang="en-IN" b="1" dirty="0"/>
              <a:t>efficient patient monitoring and timely response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137CA-29AD-7580-0ABF-88E79391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1F09CC0-F412-6176-21CE-904677DE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9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553C-00D8-1180-533B-B4FA2A2B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00" b="1" dirty="0"/>
              <a:t>                                                                                                                                                           </a:t>
            </a:r>
            <a:r>
              <a:rPr lang="en-US" sz="4800" b="1" dirty="0"/>
              <a:t>OBJECTIVES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FDC91-79D2-43B1-D228-466CAA15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To develop a </a:t>
            </a:r>
            <a:r>
              <a:rPr lang="en-IN" b="1" dirty="0"/>
              <a:t>real-time patient vital signs monitoring dashboard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monitor </a:t>
            </a:r>
            <a:r>
              <a:rPr lang="en-IN" b="1" dirty="0"/>
              <a:t>heart rate, blood pressure, temperature, SpO₂, and respiratory rate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display patient health data in a </a:t>
            </a:r>
            <a:r>
              <a:rPr lang="en-IN" b="1" dirty="0"/>
              <a:t>simple and user-friendly interface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To identify </a:t>
            </a:r>
            <a:r>
              <a:rPr lang="en-IN" b="1" dirty="0"/>
              <a:t>abnormal vital sign readings</a:t>
            </a:r>
            <a:r>
              <a:rPr lang="en-IN" dirty="0"/>
              <a:t> quickly. </a:t>
            </a:r>
          </a:p>
          <a:p>
            <a:pPr lvl="0"/>
            <a:r>
              <a:rPr lang="en-IN" dirty="0"/>
              <a:t>To provide </a:t>
            </a:r>
            <a:r>
              <a:rPr lang="en-IN" b="1" dirty="0"/>
              <a:t>alerts for critical changes</a:t>
            </a:r>
            <a:r>
              <a:rPr lang="en-IN" dirty="0"/>
              <a:t> in patient conditions. </a:t>
            </a:r>
          </a:p>
          <a:p>
            <a:pPr lvl="0"/>
            <a:r>
              <a:rPr lang="en-IN" dirty="0"/>
              <a:t>To support healthcare professionals in </a:t>
            </a:r>
            <a:r>
              <a:rPr lang="en-IN" b="1" dirty="0"/>
              <a:t>efficient patient monitoring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B6B50-4C4B-4ABE-A5F5-D08FDAE5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FF35AB-B98E-11F5-8C1A-845B7E71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7ED1-B86D-5965-947D-725C4696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SYSTEM ARCHITECTURE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CBC8E-69B1-05C7-BD13-CCAF1D272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197"/>
            <a:ext cx="10515600" cy="516731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Patient → Sensors → Data Collection → Processing → Database → Dashboard → Doctor/Nurse</a:t>
            </a:r>
            <a:endParaRPr lang="en-IN" dirty="0"/>
          </a:p>
          <a:p>
            <a:pPr lvl="0"/>
            <a:r>
              <a:rPr lang="en-IN" b="1" dirty="0"/>
              <a:t>Patient:</a:t>
            </a:r>
            <a:r>
              <a:rPr lang="en-IN" dirty="0"/>
              <a:t> Provides the vital sign data. </a:t>
            </a:r>
          </a:p>
          <a:p>
            <a:pPr lvl="0"/>
            <a:r>
              <a:rPr lang="en-IN" b="1" dirty="0"/>
              <a:t>Sensors:</a:t>
            </a:r>
            <a:r>
              <a:rPr lang="en-IN" dirty="0"/>
              <a:t> Measure heart rate, blood pressure, temperature, SpO₂, etc. </a:t>
            </a:r>
          </a:p>
          <a:p>
            <a:pPr lvl="0"/>
            <a:r>
              <a:rPr lang="en-IN" b="1" dirty="0"/>
              <a:t>Data Collection:</a:t>
            </a:r>
            <a:r>
              <a:rPr lang="en-IN" dirty="0"/>
              <a:t> Receives readings from the sensors. </a:t>
            </a:r>
          </a:p>
          <a:p>
            <a:pPr lvl="0"/>
            <a:r>
              <a:rPr lang="en-IN" b="1" dirty="0"/>
              <a:t>Processing:</a:t>
            </a:r>
            <a:r>
              <a:rPr lang="en-IN" dirty="0"/>
              <a:t> Checks and </a:t>
            </a:r>
            <a:r>
              <a:rPr lang="en-IN" dirty="0" err="1"/>
              <a:t>analyzes</a:t>
            </a:r>
            <a:r>
              <a:rPr lang="en-IN" dirty="0"/>
              <a:t> the collected data.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Stores patient information and vital sign history. </a:t>
            </a:r>
          </a:p>
          <a:p>
            <a:pPr lvl="0"/>
            <a:r>
              <a:rPr lang="en-IN" b="1" dirty="0"/>
              <a:t>Dashboard:</a:t>
            </a:r>
            <a:r>
              <a:rPr lang="en-IN" dirty="0"/>
              <a:t> Displays real-time readings using numbers, graphs, and status indicators. </a:t>
            </a:r>
          </a:p>
          <a:p>
            <a:pPr lvl="0"/>
            <a:r>
              <a:rPr lang="en-IN" b="1" dirty="0"/>
              <a:t>Doctor/Nurse:</a:t>
            </a:r>
            <a:r>
              <a:rPr lang="en-IN" dirty="0"/>
              <a:t> Monitors the dashboard and responds to abnormal readings.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F7C95-63A9-B624-B29D-7A906ECED5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59EF0B-B275-2A47-0377-52EE75174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0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205B-6C2B-8C78-D6D0-AFB39D8C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US" b="1" dirty="0"/>
              <a:t>DASHBOARD FEATURES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8D1F-2EE7-2899-7CCB-141B51A42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Patient Information</a:t>
            </a:r>
            <a:r>
              <a:rPr lang="en-IN" dirty="0"/>
              <a:t> – Displays patient ID, name, age, and room number. </a:t>
            </a:r>
          </a:p>
          <a:p>
            <a:pPr lvl="0"/>
            <a:r>
              <a:rPr lang="en-IN" b="1" dirty="0"/>
              <a:t>Real-Time Monitoring</a:t>
            </a:r>
            <a:r>
              <a:rPr lang="en-IN" dirty="0"/>
              <a:t> – Shows current vital sign readings. </a:t>
            </a:r>
          </a:p>
          <a:p>
            <a:pPr lvl="0"/>
            <a:r>
              <a:rPr lang="en-IN" b="1" dirty="0"/>
              <a:t>Vital Signs Display</a:t>
            </a:r>
            <a:r>
              <a:rPr lang="en-IN" dirty="0"/>
              <a:t> – Heart rate, blood pressure, temperature, SpO₂, and respiratory rate. </a:t>
            </a:r>
          </a:p>
          <a:p>
            <a:pPr lvl="0"/>
            <a:r>
              <a:rPr lang="en-IN" b="1" dirty="0"/>
              <a:t>Status Indicators</a:t>
            </a:r>
            <a:r>
              <a:rPr lang="en-IN" dirty="0"/>
              <a:t> – Shows readings as normal or abnormal. </a:t>
            </a:r>
          </a:p>
          <a:p>
            <a:pPr lvl="0"/>
            <a:r>
              <a:rPr lang="en-IN" b="1" dirty="0"/>
              <a:t>Alerts &amp; Notifications</a:t>
            </a:r>
            <a:r>
              <a:rPr lang="en-IN" dirty="0"/>
              <a:t> – Gives warnings when readings are outside the set range. </a:t>
            </a:r>
          </a:p>
          <a:p>
            <a:pPr lvl="0"/>
            <a:r>
              <a:rPr lang="en-IN" b="1" dirty="0"/>
              <a:t>Graphs &amp; Trends</a:t>
            </a:r>
            <a:r>
              <a:rPr lang="en-IN" dirty="0"/>
              <a:t> – Displays changes in vital signs over time. </a:t>
            </a:r>
          </a:p>
          <a:p>
            <a:pPr lvl="0"/>
            <a:r>
              <a:rPr lang="en-IN" b="1" dirty="0"/>
              <a:t>Patient History</a:t>
            </a:r>
            <a:r>
              <a:rPr lang="en-IN" dirty="0"/>
              <a:t> – Stores and displays previous readings. </a:t>
            </a:r>
          </a:p>
          <a:p>
            <a:pPr lvl="0"/>
            <a:r>
              <a:rPr lang="en-IN" b="1" dirty="0"/>
              <a:t>User-Friendly Interface</a:t>
            </a:r>
            <a:r>
              <a:rPr lang="en-IN" dirty="0"/>
              <a:t> – Easy for doctors and nurses to monitor patients.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DD78A-3EAB-090A-2154-6CBC7A9C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439895-66BC-BD6B-60A7-ACF70B42F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44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41EF-3FEA-6FE2-9223-543BC1C9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                IMPLEMENTATION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8CA2-316C-079E-1604-1CDFF4E0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Data Collection:</a:t>
            </a:r>
            <a:r>
              <a:rPr lang="en-IN" dirty="0"/>
              <a:t> Collect patient vital signs using sensors or manually entered data. </a:t>
            </a:r>
          </a:p>
          <a:p>
            <a:pPr lvl="0"/>
            <a:r>
              <a:rPr lang="en-IN" b="1" dirty="0"/>
              <a:t>Data Processing:</a:t>
            </a:r>
            <a:r>
              <a:rPr lang="en-IN" dirty="0"/>
              <a:t> Process and validate the collected readings.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Store patient details and vital-sign history securely. </a:t>
            </a:r>
          </a:p>
          <a:p>
            <a:pPr lvl="0"/>
            <a:r>
              <a:rPr lang="en-IN" b="1" dirty="0"/>
              <a:t>Dashboard Development:</a:t>
            </a:r>
            <a:r>
              <a:rPr lang="en-IN" dirty="0"/>
              <a:t> Display readings using charts, graphs, and status indicators. </a:t>
            </a:r>
          </a:p>
          <a:p>
            <a:pPr lvl="0"/>
            <a:r>
              <a:rPr lang="en-IN" b="1" dirty="0"/>
              <a:t>Alert System:</a:t>
            </a:r>
            <a:r>
              <a:rPr lang="en-IN" dirty="0"/>
              <a:t> Generate alerts when readings cross predefined limits. </a:t>
            </a:r>
          </a:p>
          <a:p>
            <a:pPr lvl="0"/>
            <a:r>
              <a:rPr lang="en-IN" b="1" dirty="0"/>
              <a:t>Real-Time Update:</a:t>
            </a:r>
            <a:r>
              <a:rPr lang="en-IN" dirty="0"/>
              <a:t> Continuously update the dashboard with the latest readings. </a:t>
            </a:r>
          </a:p>
          <a:p>
            <a:pPr lvl="0"/>
            <a:r>
              <a:rPr lang="en-IN" b="1" dirty="0"/>
              <a:t>User Access:</a:t>
            </a:r>
            <a:r>
              <a:rPr lang="en-IN" dirty="0"/>
              <a:t> Allow authorized healthcare staff to view and monitor patient data.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396C-1AED-C790-1B67-4017158E8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C85164-7316-E592-A453-B625839A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6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76DB-3DAB-F3AB-17D1-18834983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2" y="365125"/>
            <a:ext cx="9508957" cy="1237073"/>
          </a:xfrm>
        </p:spPr>
        <p:txBody>
          <a:bodyPr>
            <a:noAutofit/>
          </a:bodyPr>
          <a:lstStyle/>
          <a:p>
            <a:r>
              <a:rPr lang="en-US" b="1" dirty="0"/>
              <a:t>MODULE-1 HARDWARE AND DATA                                                                    COLLECTION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AFF3-2673-779B-88A4-23349305E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Sensors:</a:t>
            </a:r>
            <a:r>
              <a:rPr lang="en-IN" dirty="0"/>
              <a:t> Measure heart rate, blood pressure, temperature, SpO₂, and respiratory rate. </a:t>
            </a:r>
          </a:p>
          <a:p>
            <a:pPr lvl="0"/>
            <a:r>
              <a:rPr lang="en-IN" b="1" dirty="0"/>
              <a:t>Microcontroller:</a:t>
            </a:r>
            <a:r>
              <a:rPr lang="en-IN" dirty="0"/>
              <a:t> Collects and processes sensor readings. </a:t>
            </a:r>
          </a:p>
          <a:p>
            <a:pPr lvl="0"/>
            <a:r>
              <a:rPr lang="en-IN" b="1" dirty="0"/>
              <a:t>Data Acquisition:</a:t>
            </a:r>
            <a:r>
              <a:rPr lang="en-IN" dirty="0"/>
              <a:t> Receives vital-sign data from the sensors. </a:t>
            </a:r>
          </a:p>
          <a:p>
            <a:pPr lvl="0"/>
            <a:r>
              <a:rPr lang="en-IN" b="1" dirty="0"/>
              <a:t>Communication:</a:t>
            </a:r>
            <a:r>
              <a:rPr lang="en-IN" dirty="0"/>
              <a:t> Transfers collected data to the monitoring dashboard. </a:t>
            </a:r>
          </a:p>
          <a:p>
            <a:pPr lvl="0"/>
            <a:r>
              <a:rPr lang="en-IN" b="1" dirty="0"/>
              <a:t>Patient Identification:</a:t>
            </a:r>
            <a:r>
              <a:rPr lang="en-IN" dirty="0"/>
              <a:t> Links the readings with the correct patient. </a:t>
            </a:r>
          </a:p>
          <a:p>
            <a:pPr lvl="0"/>
            <a:r>
              <a:rPr lang="en-IN" b="1" dirty="0"/>
              <a:t>Data Storage:</a:t>
            </a:r>
            <a:r>
              <a:rPr lang="en-IN" dirty="0"/>
              <a:t> Stores the collected readings for further monitoring and analysis.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42F55-67EE-A340-6522-041D29CD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C72900-78A8-ECDA-ED4F-C4D70F706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5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971F-5BE7-10BB-9127-FB690ADF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010" y="365126"/>
            <a:ext cx="9444789" cy="1237072"/>
          </a:xfrm>
        </p:spPr>
        <p:txBody>
          <a:bodyPr>
            <a:noAutofit/>
          </a:bodyPr>
          <a:lstStyle/>
          <a:p>
            <a:r>
              <a:rPr lang="en-US" b="1" dirty="0"/>
              <a:t>MODULE – 2 DASHBOARD AND                                                 SOFTWARE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1E70-5165-A8CF-CF10-C33657C24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Dashboard Interface:</a:t>
            </a:r>
            <a:r>
              <a:rPr lang="en-IN" dirty="0"/>
              <a:t> Displays patient vital signs clearly. </a:t>
            </a:r>
          </a:p>
          <a:p>
            <a:pPr lvl="0"/>
            <a:r>
              <a:rPr lang="en-IN" b="1" dirty="0"/>
              <a:t>Real-Time Monitoring:</a:t>
            </a:r>
            <a:r>
              <a:rPr lang="en-IN" dirty="0"/>
              <a:t> Shows the latest readings continuously. </a:t>
            </a:r>
          </a:p>
          <a:p>
            <a:pPr lvl="0"/>
            <a:r>
              <a:rPr lang="en-IN" b="1" dirty="0"/>
              <a:t>Data Visualization:</a:t>
            </a:r>
            <a:r>
              <a:rPr lang="en-IN" dirty="0"/>
              <a:t> Uses graphs and charts to show vital-sign trends. </a:t>
            </a:r>
          </a:p>
          <a:p>
            <a:pPr lvl="0"/>
            <a:r>
              <a:rPr lang="en-IN" b="1" dirty="0"/>
              <a:t>Alert System:</a:t>
            </a:r>
            <a:r>
              <a:rPr lang="en-IN" dirty="0"/>
              <a:t> Indicates abnormal or critical readings. </a:t>
            </a:r>
          </a:p>
          <a:p>
            <a:pPr lvl="0"/>
            <a:r>
              <a:rPr lang="en-IN" b="1" dirty="0"/>
              <a:t>Patient Management:</a:t>
            </a:r>
            <a:r>
              <a:rPr lang="en-IN" dirty="0"/>
              <a:t> Displays patient details and monitoring history.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Stores patient information and vital-sign records. </a:t>
            </a:r>
          </a:p>
          <a:p>
            <a:pPr lvl="0"/>
            <a:r>
              <a:rPr lang="en-IN" b="1" dirty="0"/>
              <a:t>Software Processing: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and updates the collected data.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1F6F2-2047-DD8C-9F15-69C7A68AE0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DB6F63-C1EE-A05C-9866-582E449F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61"/>
          <a:stretch>
            <a:fillRect/>
          </a:stretch>
        </p:blipFill>
        <p:spPr>
          <a:xfrm>
            <a:off x="10892589" y="62501"/>
            <a:ext cx="1299411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2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8A1E-111B-442F-21BC-C4944EDA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MODULE-1- APPLICATION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8DAC63-814B-3B23-0286-C7FE01C02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40" y="1819024"/>
            <a:ext cx="5334320" cy="4918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B509D8-E002-8601-8A17-F0DE4F54F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F946D1B1-0B5A-E51A-8F20-648D9E2ED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1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EDC-BEC1-AC6D-8887-7BA298E4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MODULE -1 -APPLICATION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F320F-8EEF-D3A0-41B5-3F38AFBD5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514" y="1690688"/>
            <a:ext cx="4043329" cy="4808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4AFDE2-1CAA-E4CC-2733-8507D16B0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E3CB663C-2261-4ADD-6579-0F11EE8F3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7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D2BC-9E12-CC50-CBAD-45530B78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MODULE-2-APPLICATION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94A088-269D-2941-A7FC-20205ABFB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702" y="1967322"/>
            <a:ext cx="4121907" cy="4613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2A4063-9C21-8F53-9DD5-92FFDC16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9AFA79-5975-98F4-205B-ABF90474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21E62-EC20-3870-8F5C-EE187C6A99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090" y="2157981"/>
            <a:ext cx="4439235" cy="27838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91819-716F-034F-9BA7-98998D3DD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090" y="4941817"/>
            <a:ext cx="4433517" cy="149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5DCD-B8B3-524E-FCBA-044FE79D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MODULE-2-APPLICATION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4655B-069F-9522-F8FD-DB6328DC0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381" y="1817884"/>
            <a:ext cx="3249609" cy="4674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BC31D5-2CE7-2843-BE8A-0053F3323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94200301-97E4-6260-F1A4-B1E2911B9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97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F0C0-C656-3030-DB09-849A1E21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6" y="365126"/>
            <a:ext cx="9398001" cy="735542"/>
          </a:xfrm>
        </p:spPr>
        <p:txBody>
          <a:bodyPr/>
          <a:lstStyle/>
          <a:p>
            <a:r>
              <a:rPr lang="en-IN" dirty="0"/>
              <a:t>WEB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B16E6-7A8E-B254-1B30-1CDE6ACAA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-101600"/>
            <a:ext cx="1092693" cy="132556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EF27E1B6-A1C6-EC7E-4A12-19A00BA5B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64C4F9-0F87-387E-9587-1642761AE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62" y="1223963"/>
            <a:ext cx="10554831" cy="51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06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B0BD-3197-242F-BAF1-686FF885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               RESULT AND DISCUSSION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B2A63-49D1-037A-6F7F-7B10590E0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The dashboard successfully </a:t>
            </a:r>
            <a:r>
              <a:rPr lang="en-IN" b="1" dirty="0"/>
              <a:t>displays patient vital signs in real time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Heart rate, blood pressure, temperature, SpO₂, and respiratory rate can be </a:t>
            </a:r>
            <a:r>
              <a:rPr lang="en-IN" b="1" dirty="0"/>
              <a:t>monitored easily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Graphs and status indicators</a:t>
            </a:r>
            <a:r>
              <a:rPr lang="en-IN" dirty="0"/>
              <a:t> make changes in vital signs easy to understand. 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alert system</a:t>
            </a:r>
            <a:r>
              <a:rPr lang="en-IN" dirty="0"/>
              <a:t> helps identify abnormal readings quickly. </a:t>
            </a:r>
          </a:p>
          <a:p>
            <a:pPr lvl="0"/>
            <a:r>
              <a:rPr lang="en-IN" dirty="0"/>
              <a:t>Patient data can be </a:t>
            </a:r>
            <a:r>
              <a:rPr lang="en-IN" b="1" dirty="0"/>
              <a:t>stored and reviewed</a:t>
            </a:r>
            <a:r>
              <a:rPr lang="en-IN" dirty="0"/>
              <a:t> for monitoring trends. </a:t>
            </a:r>
          </a:p>
          <a:p>
            <a:pPr lvl="0"/>
            <a:r>
              <a:rPr lang="en-IN" dirty="0"/>
              <a:t>Overall, the system provides </a:t>
            </a:r>
            <a:r>
              <a:rPr lang="en-IN" b="1" dirty="0"/>
              <a:t>efficient and user-friendly patient monitoring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898D4-E933-677D-7247-298DA4F0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247582-CBDC-21C2-88DD-8F535C299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7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48BE-AFAC-779B-CE33-956473CC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ADVANTAGES AND APPLICATIONS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5F198-1563-6E6D-70CA-B02815652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Advantages</a:t>
            </a:r>
            <a:endParaRPr lang="en-IN" dirty="0"/>
          </a:p>
          <a:p>
            <a:pPr lvl="0"/>
            <a:r>
              <a:rPr lang="en-IN" dirty="0"/>
              <a:t>Real-time patient monitoring </a:t>
            </a:r>
          </a:p>
          <a:p>
            <a:pPr lvl="0"/>
            <a:r>
              <a:rPr lang="en-IN" dirty="0"/>
              <a:t>Quick detection of abnormal readings </a:t>
            </a:r>
          </a:p>
          <a:p>
            <a:pPr lvl="0"/>
            <a:r>
              <a:rPr lang="en-IN" dirty="0"/>
              <a:t>Easy-to-use dashboard </a:t>
            </a:r>
          </a:p>
          <a:p>
            <a:pPr lvl="0"/>
            <a:r>
              <a:rPr lang="en-IN" dirty="0"/>
              <a:t>Reduces manual monitoring </a:t>
            </a:r>
          </a:p>
          <a:p>
            <a:pPr lvl="0"/>
            <a:r>
              <a:rPr lang="en-IN" dirty="0"/>
              <a:t>Supports timely medical decisions </a:t>
            </a:r>
          </a:p>
          <a:p>
            <a:pPr marL="0" lvl="0" indent="0">
              <a:buNone/>
            </a:pPr>
            <a:r>
              <a:rPr lang="en-IN" b="1" dirty="0"/>
              <a:t>Applications</a:t>
            </a:r>
            <a:endParaRPr lang="en-IN" dirty="0"/>
          </a:p>
          <a:p>
            <a:pPr lvl="0"/>
            <a:r>
              <a:rPr lang="en-IN" dirty="0"/>
              <a:t>Hospitals and wards </a:t>
            </a:r>
          </a:p>
          <a:p>
            <a:pPr lvl="0"/>
            <a:r>
              <a:rPr lang="en-IN" dirty="0"/>
              <a:t>ICU and critical care </a:t>
            </a:r>
          </a:p>
          <a:p>
            <a:pPr lvl="0"/>
            <a:r>
              <a:rPr lang="en-IN" dirty="0"/>
              <a:t>Emergency departments </a:t>
            </a:r>
          </a:p>
          <a:p>
            <a:pPr lvl="0"/>
            <a:r>
              <a:rPr lang="en-IN" dirty="0"/>
              <a:t>Remote patient monitoring </a:t>
            </a:r>
          </a:p>
          <a:p>
            <a:pPr lvl="0"/>
            <a:r>
              <a:rPr lang="en-IN" dirty="0"/>
              <a:t>Healthcare research</a:t>
            </a:r>
          </a:p>
          <a:p>
            <a:pPr mar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3DABA-63DD-C984-8709-85F61BE8D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39F011-7715-FE96-D907-EF85057B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92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FB0E-BCEC-06F5-F0CD-58C525F6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9039-9712-FFAA-E340-7C8F6FCF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      CHALLENGES AND LIMITATIONS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2CA37-6F28-58AF-2305-560223CAB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b="1" dirty="0"/>
              <a:t>Sensor Accuracy:</a:t>
            </a:r>
            <a:r>
              <a:rPr lang="en-IN" dirty="0"/>
              <a:t> Sensors may sometimes provide inaccurate readings. </a:t>
            </a:r>
          </a:p>
          <a:p>
            <a:pPr lvl="0"/>
            <a:r>
              <a:rPr lang="en-IN" b="1" dirty="0"/>
              <a:t>Real-Time Connectivity:</a:t>
            </a:r>
            <a:r>
              <a:rPr lang="en-IN" dirty="0"/>
              <a:t> Network failure can interrupt data updates. </a:t>
            </a:r>
          </a:p>
          <a:p>
            <a:pPr lvl="0"/>
            <a:r>
              <a:rPr lang="en-IN" b="1" dirty="0"/>
              <a:t>System Reliability:</a:t>
            </a:r>
            <a:r>
              <a:rPr lang="en-IN" dirty="0"/>
              <a:t> Hardware or software failures may affect monitoring. </a:t>
            </a:r>
          </a:p>
          <a:p>
            <a:pPr lvl="0"/>
            <a:r>
              <a:rPr lang="en-IN" b="1" dirty="0"/>
              <a:t>Data Security:</a:t>
            </a:r>
            <a:r>
              <a:rPr lang="en-IN" dirty="0"/>
              <a:t> Patient information needs strong privacy protection. </a:t>
            </a:r>
          </a:p>
          <a:p>
            <a:pPr lvl="0"/>
            <a:r>
              <a:rPr lang="en-IN" b="1" dirty="0"/>
              <a:t>Maintenance:</a:t>
            </a:r>
            <a:r>
              <a:rPr lang="en-IN" dirty="0"/>
              <a:t> Sensors and devices require regular maintenance. </a:t>
            </a:r>
          </a:p>
          <a:p>
            <a:pPr lvl="0"/>
            <a:r>
              <a:rPr lang="en-IN" b="1" dirty="0"/>
              <a:t>Limited Functionality:</a:t>
            </a:r>
            <a:r>
              <a:rPr lang="en-IN" dirty="0"/>
              <a:t> The dashboard monitors vital signs but does not diagnose diseases.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757AA-027D-E264-290E-078BAC2C2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49855D-2DF2-A8F4-E610-E11292F00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8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DD83-773C-3A56-9591-3BEED749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</a:t>
            </a:r>
            <a:r>
              <a:rPr lang="en-US" sz="5400" b="1" dirty="0"/>
              <a:t>FUTURE SCOPE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7591-24A5-C82B-2652-33AD43EF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IoT Integration</a:t>
            </a:r>
            <a:r>
              <a:rPr lang="en-IN" dirty="0"/>
              <a:t> – Connect medical sensors for continuous real-time monitoring. </a:t>
            </a:r>
          </a:p>
          <a:p>
            <a:pPr lvl="0"/>
            <a:r>
              <a:rPr lang="en-IN" b="1" dirty="0"/>
              <a:t>AI-Based Analysis</a:t>
            </a:r>
            <a:r>
              <a:rPr lang="en-IN" dirty="0"/>
              <a:t> – Use AI to identify unusual vital-sign patterns. </a:t>
            </a:r>
          </a:p>
          <a:p>
            <a:pPr lvl="0"/>
            <a:r>
              <a:rPr lang="en-IN" b="1" dirty="0"/>
              <a:t>Cloud Storage</a:t>
            </a:r>
            <a:r>
              <a:rPr lang="en-IN" dirty="0"/>
              <a:t> – Store patient data securely for easy access. </a:t>
            </a:r>
          </a:p>
          <a:p>
            <a:pPr lvl="0"/>
            <a:r>
              <a:rPr lang="en-IN" b="1" dirty="0"/>
              <a:t>Mobile Application</a:t>
            </a:r>
            <a:r>
              <a:rPr lang="en-IN" dirty="0"/>
              <a:t> – Allow healthcare staff to monitor patients remotely. </a:t>
            </a:r>
          </a:p>
          <a:p>
            <a:pPr lvl="0"/>
            <a:r>
              <a:rPr lang="en-IN" b="1" dirty="0"/>
              <a:t>Advanced Alerts</a:t>
            </a:r>
            <a:r>
              <a:rPr lang="en-IN" dirty="0"/>
              <a:t> – Provide early warnings for critical changes. </a:t>
            </a:r>
          </a:p>
          <a:p>
            <a:pPr lvl="0"/>
            <a:r>
              <a:rPr lang="en-IN" b="1" dirty="0"/>
              <a:t>Predictive Monitoring</a:t>
            </a:r>
            <a:r>
              <a:rPr lang="en-IN" dirty="0"/>
              <a:t> – </a:t>
            </a:r>
            <a:r>
              <a:rPr lang="en-IN" dirty="0" err="1"/>
              <a:t>Analyze</a:t>
            </a:r>
            <a:r>
              <a:rPr lang="en-IN" dirty="0"/>
              <a:t> trends to support early intervention. </a:t>
            </a:r>
          </a:p>
          <a:p>
            <a:pPr marL="0" lvl="0" indent="0">
              <a:buNone/>
            </a:pPr>
            <a:endParaRPr lang="en-IN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D2A11D6-D933-9017-FE8D-111908D5B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24E99-FDB6-4CD2-4D18-2804D0DE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83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92C8-AEF8-C572-3F6F-79000CFC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</a:t>
            </a:r>
            <a:r>
              <a:rPr lang="en-US" sz="5400" b="1" dirty="0"/>
              <a:t>CONCLUSION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7DEF-45FA-CD0B-3BCD-478F156BD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The </a:t>
            </a:r>
            <a:r>
              <a:rPr lang="en-IN" b="1" dirty="0"/>
              <a:t>Hospital Patient Vital Signs Monitor Dashboard</a:t>
            </a:r>
            <a:r>
              <a:rPr lang="en-IN" dirty="0"/>
              <a:t> provides an efficient way to monitor patient health. </a:t>
            </a:r>
          </a:p>
          <a:p>
            <a:pPr lvl="0"/>
            <a:r>
              <a:rPr lang="en-IN" dirty="0"/>
              <a:t>It displays </a:t>
            </a:r>
            <a:r>
              <a:rPr lang="en-IN" b="1" dirty="0"/>
              <a:t>vital signs in real time</a:t>
            </a:r>
            <a:r>
              <a:rPr lang="en-IN" dirty="0"/>
              <a:t> through a simple interface. </a:t>
            </a:r>
          </a:p>
          <a:p>
            <a:pPr lvl="0"/>
            <a:r>
              <a:rPr lang="en-IN" dirty="0"/>
              <a:t>Alerts help identify </a:t>
            </a:r>
            <a:r>
              <a:rPr lang="en-IN" b="1" dirty="0"/>
              <a:t>abnormal readings quickly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Graphs and stored data support </a:t>
            </a:r>
            <a:r>
              <a:rPr lang="en-IN" b="1" dirty="0"/>
              <a:t>easy tracking of patient conditions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system can improve </a:t>
            </a:r>
            <a:r>
              <a:rPr lang="en-IN" b="1" dirty="0"/>
              <a:t>monitoring efficiency and timely medical response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Future technologies such as </a:t>
            </a:r>
            <a:r>
              <a:rPr lang="en-IN" b="1" dirty="0"/>
              <a:t>IoT, AI, and cloud computing</a:t>
            </a:r>
            <a:r>
              <a:rPr lang="en-IN" dirty="0"/>
              <a:t> can further enhance the system.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79260-7088-BB43-0204-88B157E4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33914" y="44245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9F4F57-DDE0-12B8-8C46-D55067EB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1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41D5-1A51-D66D-4A2C-E9D6CD3D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                  REFERENCES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D3E3-E77E-FE98-BDBD-9B126D88B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World Health Organization (WHO) – </a:t>
            </a:r>
            <a:r>
              <a:rPr lang="en-IN" b="1" dirty="0"/>
              <a:t>Digital Health and Health Technologies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Centers</a:t>
            </a:r>
            <a:r>
              <a:rPr lang="en-IN" dirty="0"/>
              <a:t> for Disease Control and Prevention (CDC) – </a:t>
            </a:r>
            <a:r>
              <a:rPr lang="en-IN" b="1" dirty="0"/>
              <a:t>Vital Signs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Arduino Documentation – </a:t>
            </a:r>
            <a:r>
              <a:rPr lang="en-IN" b="1" dirty="0"/>
              <a:t>Sensors and IoT Projects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National Institute of Biomedical Imaging and Bioengineering (NIBIB) – </a:t>
            </a:r>
            <a:r>
              <a:rPr lang="en-IN" b="1" dirty="0"/>
              <a:t>Medical Devices and Monitoring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Research articles on </a:t>
            </a:r>
            <a:r>
              <a:rPr lang="en-IN" b="1" dirty="0"/>
              <a:t>Patient Vital Signs Monitoring Systems and Healthcare Dashboards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A8654-25E3-B3A6-5979-014B54C4BF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791969-B8BF-F2B1-8D38-E6219583E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60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CFF44-D511-68B0-E3DD-F9436F402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              </a:t>
            </a:r>
          </a:p>
          <a:p>
            <a:pPr marL="0" indent="0">
              <a:buNone/>
            </a:pPr>
            <a:r>
              <a:rPr lang="en-US" sz="5400" b="1" dirty="0"/>
              <a:t>                  </a:t>
            </a:r>
            <a:r>
              <a:rPr lang="en-US" sz="6600" b="1" dirty="0"/>
              <a:t>THANK YOU!</a:t>
            </a:r>
            <a:endParaRPr lang="en-IN" sz="6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07B39-330F-33EF-B700-846906B53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5" t="3729" r="7387" b="1599"/>
          <a:stretch>
            <a:fillRect/>
          </a:stretch>
        </p:blipFill>
        <p:spPr>
          <a:xfrm>
            <a:off x="0" y="0"/>
            <a:ext cx="1092693" cy="132556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8D319B-BD1E-7AB5-2A14-294D9F488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661" y="88491"/>
            <a:ext cx="1496339" cy="12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3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1170</Words>
  <Application>Microsoft Office PowerPoint</Application>
  <PresentationFormat>Widescreen</PresentationFormat>
  <Paragraphs>139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HOSPITAL PATIENT VITAL SIGNS MONITOR DASHBOARD</vt:lpstr>
      <vt:lpstr>Table of Contents</vt:lpstr>
      <vt:lpstr>I                             INTRODUCTION</vt:lpstr>
      <vt:lpstr>                               ABSTRACT</vt:lpstr>
      <vt:lpstr>                     PROBLEM STATEMENT</vt:lpstr>
      <vt:lpstr>                                                                                                                                                           OBJECTIVES</vt:lpstr>
      <vt:lpstr>                      SYSTEM ARCHITECTURE</vt:lpstr>
      <vt:lpstr>                  DASHBOARD FEATURES</vt:lpstr>
      <vt:lpstr>                IMPLEMENTATION</vt:lpstr>
      <vt:lpstr>MODULE-1 HARDWARE AND DATA                                                                    COLLECTION</vt:lpstr>
      <vt:lpstr>MODULE – 2 DASHBOARD AND                                                 SOFTWARE</vt:lpstr>
      <vt:lpstr>             MODULE-1- APPLICATION</vt:lpstr>
      <vt:lpstr>       MODULE -1 -APPLICATION</vt:lpstr>
      <vt:lpstr>  MODULE-2-APPLICATION</vt:lpstr>
      <vt:lpstr>         MODULE-2-APPLICATION</vt:lpstr>
      <vt:lpstr>WEB PAGE</vt:lpstr>
      <vt:lpstr>               RESULT AND DISCUSSION</vt:lpstr>
      <vt:lpstr>     ADVANTAGES AND APPLICATIONS</vt:lpstr>
      <vt:lpstr>      CHALLENGES AND LIMITATIONS</vt:lpstr>
      <vt:lpstr>                        FUTURE SCOPE</vt:lpstr>
      <vt:lpstr>                             CONCLUSION</vt:lpstr>
      <vt:lpstr>                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Jayaprithika M</dc:creator>
  <cp:lastModifiedBy>Madhumitta Ch S</cp:lastModifiedBy>
  <cp:revision>3</cp:revision>
  <dcterms:created xsi:type="dcterms:W3CDTF">2026-08-31T01:43:21Z</dcterms:created>
  <dcterms:modified xsi:type="dcterms:W3CDTF">2026-09-03T08:47:17Z</dcterms:modified>
</cp:coreProperties>
</file>