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9715500" cx="7315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60">
          <p15:clr>
            <a:srgbClr val="747775"/>
          </p15:clr>
        </p15:guide>
        <p15:guide id="2" pos="230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60" orient="horz"/>
        <p:guide pos="2304"/>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38394" y="685800"/>
            <a:ext cx="25818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38394" y="685800"/>
            <a:ext cx="25818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abc1d2142_0_2:notes"/>
          <p:cNvSpPr/>
          <p:nvPr>
            <p:ph idx="2" type="sldImg"/>
          </p:nvPr>
        </p:nvSpPr>
        <p:spPr>
          <a:xfrm>
            <a:off x="2138394" y="685800"/>
            <a:ext cx="25818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abc1d214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abc1d2142_0_8:notes"/>
          <p:cNvSpPr/>
          <p:nvPr>
            <p:ph idx="2" type="sldImg"/>
          </p:nvPr>
        </p:nvSpPr>
        <p:spPr>
          <a:xfrm>
            <a:off x="2138394" y="685800"/>
            <a:ext cx="25818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fabc1d214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abc1d2142_0_13:notes"/>
          <p:cNvSpPr/>
          <p:nvPr>
            <p:ph idx="2" type="sldImg"/>
          </p:nvPr>
        </p:nvSpPr>
        <p:spPr>
          <a:xfrm>
            <a:off x="2138394" y="685800"/>
            <a:ext cx="25818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fabc1d214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abc1d2142_0_27:notes"/>
          <p:cNvSpPr/>
          <p:nvPr>
            <p:ph idx="2" type="sldImg"/>
          </p:nvPr>
        </p:nvSpPr>
        <p:spPr>
          <a:xfrm>
            <a:off x="2138394" y="685800"/>
            <a:ext cx="25818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abc1d214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abc1d2142_0_33:notes"/>
          <p:cNvSpPr/>
          <p:nvPr>
            <p:ph idx="2" type="sldImg"/>
          </p:nvPr>
        </p:nvSpPr>
        <p:spPr>
          <a:xfrm>
            <a:off x="2138394" y="685800"/>
            <a:ext cx="25818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fabc1d214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abc1d2142_0_46:notes"/>
          <p:cNvSpPr/>
          <p:nvPr>
            <p:ph idx="2" type="sldImg"/>
          </p:nvPr>
        </p:nvSpPr>
        <p:spPr>
          <a:xfrm>
            <a:off x="2138394" y="685800"/>
            <a:ext cx="25818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fabc1d214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abc1d2142_0_54:notes"/>
          <p:cNvSpPr/>
          <p:nvPr>
            <p:ph idx="2" type="sldImg"/>
          </p:nvPr>
        </p:nvSpPr>
        <p:spPr>
          <a:xfrm>
            <a:off x="2138394" y="685800"/>
            <a:ext cx="25818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abc1d214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49367" y="1406419"/>
            <a:ext cx="6816600" cy="387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49360" y="5353347"/>
            <a:ext cx="6816600" cy="1497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6777966" y="8808298"/>
            <a:ext cx="438600" cy="743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49360" y="4062717"/>
            <a:ext cx="6816600" cy="159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6777966" y="8808298"/>
            <a:ext cx="438600" cy="743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49360" y="840603"/>
            <a:ext cx="6816600" cy="10818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49360" y="2176897"/>
            <a:ext cx="6816600" cy="64533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6777966" y="8808298"/>
            <a:ext cx="438600" cy="743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49360" y="840603"/>
            <a:ext cx="6816600" cy="10818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49360" y="2176897"/>
            <a:ext cx="3199800" cy="645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3865920" y="2176897"/>
            <a:ext cx="3199800" cy="645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6777966" y="8808298"/>
            <a:ext cx="438600" cy="743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49360" y="840603"/>
            <a:ext cx="6816600" cy="10818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6777966" y="8808298"/>
            <a:ext cx="438600" cy="743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49360" y="1049467"/>
            <a:ext cx="2246400" cy="1427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49360" y="2624800"/>
            <a:ext cx="2246400" cy="6005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6777966" y="8808298"/>
            <a:ext cx="438600" cy="743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392200" y="850283"/>
            <a:ext cx="5094300" cy="77271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6777966" y="8808298"/>
            <a:ext cx="438600" cy="743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657600" y="-236"/>
            <a:ext cx="3657600" cy="9715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12400" y="2329331"/>
            <a:ext cx="3236100" cy="27999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12400" y="5294697"/>
            <a:ext cx="3236100" cy="2333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3951600" y="1367697"/>
            <a:ext cx="3069600" cy="69795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6777966" y="8808298"/>
            <a:ext cx="438600" cy="743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49360" y="7991086"/>
            <a:ext cx="4799100" cy="1143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6777966" y="8808298"/>
            <a:ext cx="438600" cy="743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49360" y="2089347"/>
            <a:ext cx="6816600" cy="37089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49360" y="5954203"/>
            <a:ext cx="6816600" cy="24570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6777966" y="8808298"/>
            <a:ext cx="438600" cy="743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6777966" y="8808298"/>
            <a:ext cx="438600" cy="7434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9360" y="840603"/>
            <a:ext cx="6816600" cy="1081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49360" y="2176897"/>
            <a:ext cx="6816600" cy="64533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6777966" y="8808298"/>
            <a:ext cx="438600" cy="7434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49375" y="75126"/>
            <a:ext cx="6816600" cy="18270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2400"/>
              <a:t>Name:Madhumitta Ch S</a:t>
            </a:r>
            <a:endParaRPr sz="2400"/>
          </a:p>
          <a:p>
            <a:pPr indent="0" lvl="0" marL="0" rtl="0" algn="ctr">
              <a:spcBef>
                <a:spcPts val="0"/>
              </a:spcBef>
              <a:spcAft>
                <a:spcPts val="0"/>
              </a:spcAft>
              <a:buNone/>
            </a:pPr>
            <a:r>
              <a:rPr lang="en" sz="2400"/>
              <a:t>Reg no:1921260101</a:t>
            </a:r>
            <a:endParaRPr sz="2400"/>
          </a:p>
          <a:p>
            <a:pPr indent="0" lvl="0" marL="0" rtl="0" algn="ctr">
              <a:spcBef>
                <a:spcPts val="0"/>
              </a:spcBef>
              <a:spcAft>
                <a:spcPts val="0"/>
              </a:spcAft>
              <a:buNone/>
            </a:pPr>
            <a:r>
              <a:rPr lang="en" sz="2400"/>
              <a:t>c</a:t>
            </a:r>
            <a:r>
              <a:rPr lang="en" sz="2400"/>
              <a:t>ourse:Computer networks</a:t>
            </a:r>
            <a:endParaRPr sz="2400"/>
          </a:p>
          <a:p>
            <a:pPr indent="0" lvl="0" marL="0" rtl="0" algn="ctr">
              <a:spcBef>
                <a:spcPts val="0"/>
              </a:spcBef>
              <a:spcAft>
                <a:spcPts val="0"/>
              </a:spcAft>
              <a:buNone/>
            </a:pPr>
            <a:r>
              <a:rPr lang="en" sz="2400"/>
              <a:t>Course code:CSA0704</a:t>
            </a:r>
            <a:endParaRPr sz="2400"/>
          </a:p>
          <a:p>
            <a:pPr indent="0" lvl="0" marL="0" rtl="0" algn="ctr">
              <a:spcBef>
                <a:spcPts val="0"/>
              </a:spcBef>
              <a:spcAft>
                <a:spcPts val="0"/>
              </a:spcAft>
              <a:buNone/>
            </a:pPr>
            <a:r>
              <a:rPr lang="en" sz="2400"/>
              <a:t>department:Information technology</a:t>
            </a:r>
            <a:endParaRPr sz="2400"/>
          </a:p>
        </p:txBody>
      </p:sp>
      <p:sp>
        <p:nvSpPr>
          <p:cNvPr id="55" name="Google Shape;55;p13"/>
          <p:cNvSpPr txBox="1"/>
          <p:nvPr>
            <p:ph idx="1" type="subTitle"/>
          </p:nvPr>
        </p:nvSpPr>
        <p:spPr>
          <a:xfrm>
            <a:off x="249350" y="1902121"/>
            <a:ext cx="6816600" cy="781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Challenges set 1: UDP analysis</a:t>
            </a:r>
            <a:endParaRPr/>
          </a:p>
          <a:p>
            <a:pPr indent="0" lvl="0" marL="0" rtl="0" algn="ctr">
              <a:spcBef>
                <a:spcPts val="0"/>
              </a:spcBef>
              <a:spcAft>
                <a:spcPts val="0"/>
              </a:spcAft>
              <a:buNone/>
            </a:pPr>
            <a:r>
              <a:rPr lang="en" sz="2000"/>
              <a:t>Sample to use:DNS+NTP</a:t>
            </a:r>
            <a:endParaRPr sz="2000"/>
          </a:p>
          <a:p>
            <a:pPr indent="0" lvl="0" marL="0" rtl="0" algn="ctr">
              <a:spcBef>
                <a:spcPts val="0"/>
              </a:spcBef>
              <a:spcAft>
                <a:spcPts val="0"/>
              </a:spcAft>
              <a:buNone/>
            </a:pPr>
            <a:r>
              <a:t/>
            </a:r>
            <a:endParaRPr sz="2000"/>
          </a:p>
          <a:p>
            <a:pPr indent="-355600" lvl="0" marL="457200" rtl="0" algn="ctr">
              <a:spcBef>
                <a:spcPts val="0"/>
              </a:spcBef>
              <a:spcAft>
                <a:spcPts val="0"/>
              </a:spcAft>
              <a:buSzPts val="2000"/>
              <a:buAutoNum type="arabicPeriod"/>
            </a:pPr>
            <a:r>
              <a:rPr lang="en" sz="2000"/>
              <a:t>Open the DNS sample</a:t>
            </a:r>
            <a:endParaRPr sz="2000"/>
          </a:p>
          <a:p>
            <a:pPr indent="-355600" lvl="0" marL="457200" rtl="0" algn="ctr">
              <a:spcBef>
                <a:spcPts val="0"/>
              </a:spcBef>
              <a:spcAft>
                <a:spcPts val="0"/>
              </a:spcAft>
              <a:buSzPts val="2000"/>
              <a:buAutoNum type="arabicPeriod"/>
            </a:pPr>
            <a:r>
              <a:rPr lang="en" sz="2000"/>
              <a:t>Locate the UDP header</a:t>
            </a:r>
            <a:endParaRPr sz="2000"/>
          </a:p>
          <a:p>
            <a:pPr indent="-355600" lvl="0" marL="457200" rtl="0" algn="ctr">
              <a:spcBef>
                <a:spcPts val="0"/>
              </a:spcBef>
              <a:spcAft>
                <a:spcPts val="0"/>
              </a:spcAft>
              <a:buSzPts val="2000"/>
              <a:buAutoNum type="arabicPeriod"/>
            </a:pPr>
            <a:r>
              <a:rPr lang="en" sz="2000"/>
              <a:t>Write down the source port and destination port </a:t>
            </a:r>
            <a:endParaRPr sz="2000"/>
          </a:p>
          <a:p>
            <a:pPr indent="-355600" lvl="0" marL="457200" rtl="0" algn="ctr">
              <a:spcBef>
                <a:spcPts val="0"/>
              </a:spcBef>
              <a:spcAft>
                <a:spcPts val="0"/>
              </a:spcAft>
              <a:buSzPts val="2000"/>
              <a:buAutoNum type="arabicPeriod"/>
            </a:pPr>
            <a:r>
              <a:rPr lang="en" sz="2000"/>
              <a:t>What is the destination port number and which well-known service does it represent?</a:t>
            </a:r>
            <a:endParaRPr sz="2000"/>
          </a:p>
          <a:p>
            <a:pPr indent="0" lvl="0" marL="0" rtl="0" algn="ctr">
              <a:spcBef>
                <a:spcPts val="0"/>
              </a:spcBef>
              <a:spcAft>
                <a:spcPts val="0"/>
              </a:spcAft>
              <a:buNone/>
            </a:pPr>
            <a:r>
              <a:t/>
            </a:r>
            <a:endParaRPr sz="2000"/>
          </a:p>
          <a:p>
            <a:pPr indent="0" lvl="0" marL="0" rtl="0" algn="ctr">
              <a:spcBef>
                <a:spcPts val="0"/>
              </a:spcBef>
              <a:spcAft>
                <a:spcPts val="0"/>
              </a:spcAft>
              <a:buNone/>
            </a:pPr>
            <a:r>
              <a:rPr lang="en" sz="2000"/>
              <a:t>Source port:59198</a:t>
            </a:r>
            <a:endParaRPr sz="2000"/>
          </a:p>
          <a:p>
            <a:pPr indent="0" lvl="0" marL="0" rtl="0" algn="ctr">
              <a:spcBef>
                <a:spcPts val="0"/>
              </a:spcBef>
              <a:spcAft>
                <a:spcPts val="0"/>
              </a:spcAft>
              <a:buNone/>
            </a:pPr>
            <a:r>
              <a:rPr lang="en" sz="2000"/>
              <a:t>Destination port:54</a:t>
            </a:r>
            <a:endParaRPr sz="2000"/>
          </a:p>
        </p:txBody>
      </p:sp>
      <p:pic>
        <p:nvPicPr>
          <p:cNvPr id="56" name="Google Shape;56;p13" title="Screenshot 2026-08-20 205651.png"/>
          <p:cNvPicPr preferRelativeResize="0"/>
          <p:nvPr/>
        </p:nvPicPr>
        <p:blipFill>
          <a:blip r:embed="rId3">
            <a:alphaModFix/>
          </a:blip>
          <a:stretch>
            <a:fillRect/>
          </a:stretch>
        </p:blipFill>
        <p:spPr>
          <a:xfrm>
            <a:off x="249375" y="5999600"/>
            <a:ext cx="6816599" cy="213611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249360" y="840603"/>
            <a:ext cx="6816600" cy="108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51800" y="3831550"/>
            <a:ext cx="6816600" cy="5788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2.STILL IN THE DNS SAMPLE:</a:t>
            </a:r>
            <a:endParaRPr/>
          </a:p>
          <a:p>
            <a:pPr indent="0" lvl="0" marL="0" rtl="0" algn="l">
              <a:spcBef>
                <a:spcPts val="1200"/>
              </a:spcBef>
              <a:spcAft>
                <a:spcPts val="0"/>
              </a:spcAft>
              <a:buNone/>
            </a:pPr>
            <a:r>
              <a:rPr lang="en"/>
              <a:t>UDP length:54</a:t>
            </a:r>
            <a:endParaRPr/>
          </a:p>
          <a:p>
            <a:pPr indent="0" lvl="0" marL="0" rtl="0" algn="l">
              <a:spcBef>
                <a:spcPts val="1200"/>
              </a:spcBef>
              <a:spcAft>
                <a:spcPts val="0"/>
              </a:spcAft>
              <a:buNone/>
            </a:pPr>
            <a:r>
              <a:rPr lang="en"/>
              <a:t>UDP checksum:0x37CB</a:t>
            </a:r>
            <a:endParaRPr/>
          </a:p>
          <a:p>
            <a:pPr indent="0" lvl="0" marL="0" rtl="0" algn="l">
              <a:spcBef>
                <a:spcPts val="1200"/>
              </a:spcBef>
              <a:spcAft>
                <a:spcPts val="0"/>
              </a:spcAft>
              <a:buNone/>
            </a:pPr>
            <a:r>
              <a:rPr lang="en"/>
              <a:t>Sequence number:not present </a:t>
            </a:r>
            <a:endParaRPr/>
          </a:p>
          <a:p>
            <a:pPr indent="0" lvl="0" marL="0" rtl="0" algn="l">
              <a:spcBef>
                <a:spcPts val="1200"/>
              </a:spcBef>
              <a:spcAft>
                <a:spcPts val="0"/>
              </a:spcAft>
              <a:buNone/>
            </a:pPr>
            <a:r>
              <a:rPr lang="en"/>
              <a:t>Acknowledgement number: not present</a:t>
            </a:r>
            <a:endParaRPr/>
          </a:p>
          <a:p>
            <a:pPr indent="0" lvl="0" marL="0" rtl="0" algn="l">
              <a:spcBef>
                <a:spcPts val="1200"/>
              </a:spcBef>
              <a:spcAft>
                <a:spcPts val="0"/>
              </a:spcAft>
              <a:buNone/>
            </a:pPr>
            <a:r>
              <a:rPr lang="en"/>
              <a:t>conclusion:UDP does not use sequence numbers or </a:t>
            </a:r>
            <a:r>
              <a:rPr lang="en"/>
              <a:t>acknowledgement</a:t>
            </a:r>
            <a:r>
              <a:rPr lang="en"/>
              <a:t> </a:t>
            </a:r>
            <a:r>
              <a:rPr lang="en"/>
              <a:t>numbers</a:t>
            </a:r>
            <a:r>
              <a:rPr lang="en"/>
              <a:t>.this shows that UDP is a connectionless </a:t>
            </a:r>
            <a:r>
              <a:rPr lang="en"/>
              <a:t>protocol</a:t>
            </a:r>
            <a:r>
              <a:rPr lang="en"/>
              <a:t> and does not provide TCP-style reliability mechanisms.</a:t>
            </a:r>
            <a:endParaRPr/>
          </a:p>
          <a:p>
            <a:pPr indent="0" lvl="0" marL="0" rtl="0" algn="l">
              <a:spcBef>
                <a:spcPts val="1200"/>
              </a:spcBef>
              <a:spcAft>
                <a:spcPts val="0"/>
              </a:spcAft>
              <a:buNone/>
            </a:pPr>
            <a:r>
              <a:rPr lang="en"/>
              <a:t>3.open th NTP Sample:</a:t>
            </a:r>
            <a:endParaRPr/>
          </a:p>
          <a:p>
            <a:pPr indent="0" lvl="0" marL="0" rtl="0" algn="l">
              <a:spcBef>
                <a:spcPts val="1200"/>
              </a:spcBef>
              <a:spcAft>
                <a:spcPts val="0"/>
              </a:spcAft>
              <a:buNone/>
            </a:pPr>
            <a:r>
              <a:rPr lang="en"/>
              <a:t>The UDP headers of DNS and NTP contains the same four field:source port,destination port,length,checksum</a:t>
            </a:r>
            <a:endParaRPr/>
          </a:p>
          <a:p>
            <a:pPr indent="0" lvl="0" marL="0" rtl="0" algn="l">
              <a:spcBef>
                <a:spcPts val="1200"/>
              </a:spcBef>
              <a:spcAft>
                <a:spcPts val="0"/>
              </a:spcAft>
              <a:buNone/>
            </a:pPr>
            <a:r>
              <a:rPr lang="en"/>
              <a:t>The UDP Header has fixed size of 8 bytes</a:t>
            </a:r>
            <a:endParaRPr/>
          </a:p>
          <a:p>
            <a:pPr indent="0" lvl="0" marL="0" rtl="0" algn="l">
              <a:spcBef>
                <a:spcPts val="1200"/>
              </a:spcBef>
              <a:spcAft>
                <a:spcPts val="0"/>
              </a:spcAft>
              <a:buNone/>
            </a:pPr>
            <a:r>
              <a:rPr lang="en"/>
              <a:t>UDP is suitable fot both DNS &amp; NTP because it has low overhead and provide,fast,connectionless communication.both  applications can use UDP port numbers to identify the required services.</a:t>
            </a:r>
            <a:endParaRPr/>
          </a:p>
          <a:p>
            <a:pPr indent="0" lvl="0" marL="0" rtl="0" algn="l">
              <a:spcBef>
                <a:spcPts val="1200"/>
              </a:spcBef>
              <a:spcAft>
                <a:spcPts val="1200"/>
              </a:spcAft>
              <a:buNone/>
            </a:pPr>
            <a:r>
              <a:t/>
            </a:r>
            <a:endParaRPr/>
          </a:p>
        </p:txBody>
      </p:sp>
      <p:pic>
        <p:nvPicPr>
          <p:cNvPr id="63" name="Google Shape;63;p14" title="Screenshot 2026-08-20 201255.png"/>
          <p:cNvPicPr preferRelativeResize="0"/>
          <p:nvPr/>
        </p:nvPicPr>
        <p:blipFill>
          <a:blip r:embed="rId3">
            <a:alphaModFix/>
          </a:blip>
          <a:stretch>
            <a:fillRect/>
          </a:stretch>
        </p:blipFill>
        <p:spPr>
          <a:xfrm>
            <a:off x="249350" y="956200"/>
            <a:ext cx="6669325" cy="271260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249360" y="840603"/>
            <a:ext cx="6816600" cy="108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69" name="Google Shape;69;p15"/>
          <p:cNvSpPr txBox="1"/>
          <p:nvPr>
            <p:ph idx="1" type="body"/>
          </p:nvPr>
        </p:nvSpPr>
        <p:spPr>
          <a:xfrm>
            <a:off x="489901" y="2943675"/>
            <a:ext cx="6576000" cy="5686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2. Challenges set 2:</a:t>
            </a:r>
            <a:endParaRPr/>
          </a:p>
          <a:p>
            <a:pPr indent="0" lvl="0" marL="0" rtl="0" algn="l">
              <a:spcBef>
                <a:spcPts val="1200"/>
              </a:spcBef>
              <a:spcAft>
                <a:spcPts val="1200"/>
              </a:spcAft>
              <a:buNone/>
            </a:pPr>
            <a:r>
              <a:t/>
            </a:r>
            <a:endParaRPr/>
          </a:p>
        </p:txBody>
      </p:sp>
      <p:pic>
        <p:nvPicPr>
          <p:cNvPr id="70" name="Google Shape;70;p15" title="Screenshot 2026-08-20 211933.png"/>
          <p:cNvPicPr preferRelativeResize="0"/>
          <p:nvPr/>
        </p:nvPicPr>
        <p:blipFill>
          <a:blip r:embed="rId3">
            <a:alphaModFix/>
          </a:blip>
          <a:stretch>
            <a:fillRect/>
          </a:stretch>
        </p:blipFill>
        <p:spPr>
          <a:xfrm>
            <a:off x="170750" y="191324"/>
            <a:ext cx="6816600" cy="2516948"/>
          </a:xfrm>
          <a:prstGeom prst="rect">
            <a:avLst/>
          </a:prstGeom>
          <a:noFill/>
          <a:ln>
            <a:noFill/>
          </a:ln>
        </p:spPr>
      </p:pic>
      <p:pic>
        <p:nvPicPr>
          <p:cNvPr id="71" name="Google Shape;71;p15" title="Screenshot 2026-08-20 215239.png"/>
          <p:cNvPicPr preferRelativeResize="0"/>
          <p:nvPr/>
        </p:nvPicPr>
        <p:blipFill>
          <a:blip r:embed="rId4">
            <a:alphaModFix/>
          </a:blip>
          <a:stretch>
            <a:fillRect/>
          </a:stretch>
        </p:blipFill>
        <p:spPr>
          <a:xfrm>
            <a:off x="249350" y="3491950"/>
            <a:ext cx="6816599" cy="2731600"/>
          </a:xfrm>
          <a:prstGeom prst="rect">
            <a:avLst/>
          </a:prstGeom>
          <a:noFill/>
          <a:ln>
            <a:noFill/>
          </a:ln>
        </p:spPr>
      </p:pic>
      <p:pic>
        <p:nvPicPr>
          <p:cNvPr id="72" name="Google Shape;72;p15" title="Screenshot 2026-08-20 215303.png"/>
          <p:cNvPicPr preferRelativeResize="0"/>
          <p:nvPr/>
        </p:nvPicPr>
        <p:blipFill>
          <a:blip r:embed="rId5">
            <a:alphaModFix/>
          </a:blip>
          <a:stretch>
            <a:fillRect/>
          </a:stretch>
        </p:blipFill>
        <p:spPr>
          <a:xfrm>
            <a:off x="489900" y="6223550"/>
            <a:ext cx="6292175" cy="48036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249360" y="840603"/>
            <a:ext cx="6816600" cy="108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78" name="Google Shape;78;p16"/>
          <p:cNvSpPr txBox="1"/>
          <p:nvPr>
            <p:ph idx="1" type="body"/>
          </p:nvPr>
        </p:nvSpPr>
        <p:spPr>
          <a:xfrm>
            <a:off x="249350" y="1922401"/>
            <a:ext cx="6816600" cy="827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4-tuple that uniquely </a:t>
            </a:r>
            <a:r>
              <a:rPr lang="en"/>
              <a:t>identifies</a:t>
            </a:r>
            <a:r>
              <a:rPr lang="en"/>
              <a:t> this TCP socket? </a:t>
            </a:r>
            <a:endParaRPr/>
          </a:p>
          <a:p>
            <a:pPr indent="0" lvl="0" marL="0" rtl="0" algn="l">
              <a:spcBef>
                <a:spcPts val="1200"/>
              </a:spcBef>
              <a:spcAft>
                <a:spcPts val="0"/>
              </a:spcAft>
              <a:buNone/>
            </a:pPr>
            <a:r>
              <a:rPr lang="en"/>
              <a:t>The 4-tuple is </a:t>
            </a:r>
            <a:endParaRPr/>
          </a:p>
          <a:p>
            <a:pPr indent="0" lvl="0" marL="0" rtl="0" algn="l">
              <a:spcBef>
                <a:spcPts val="1200"/>
              </a:spcBef>
              <a:spcAft>
                <a:spcPts val="0"/>
              </a:spcAft>
              <a:buNone/>
            </a:pPr>
            <a:r>
              <a:rPr lang="en"/>
              <a:t>192.168.1.231,21,192.168.1.182,62014</a:t>
            </a:r>
            <a:endParaRPr/>
          </a:p>
          <a:p>
            <a:pPr indent="0" lvl="0" marL="0" rtl="0" algn="l">
              <a:spcBef>
                <a:spcPts val="1200"/>
              </a:spcBef>
              <a:spcAft>
                <a:spcPts val="0"/>
              </a:spcAft>
              <a:buNone/>
            </a:pPr>
            <a:r>
              <a:rPr lang="en"/>
              <a:t>The tuple consists of the source IP address,source  port,destination IP address,and  destination port. It uniquely identifies a TCP connection and helps the operating system perform demultiplexing by delivering each incoming packet to the correct TCP socket/application</a:t>
            </a:r>
            <a:endParaRPr/>
          </a:p>
          <a:p>
            <a:pPr indent="0" lvl="0" marL="0" rtl="0" algn="l">
              <a:spcBef>
                <a:spcPts val="1200"/>
              </a:spcBef>
              <a:spcAft>
                <a:spcPts val="1200"/>
              </a:spcAft>
              <a:buNone/>
            </a:pPr>
            <a:r>
              <a:t/>
            </a:r>
            <a:endParaRPr/>
          </a:p>
        </p:txBody>
      </p:sp>
      <p:pic>
        <p:nvPicPr>
          <p:cNvPr id="79" name="Google Shape;79;p16" title="Screenshot 2026-08-20 221643.png"/>
          <p:cNvPicPr preferRelativeResize="0"/>
          <p:nvPr/>
        </p:nvPicPr>
        <p:blipFill>
          <a:blip r:embed="rId3">
            <a:alphaModFix/>
          </a:blip>
          <a:stretch>
            <a:fillRect/>
          </a:stretch>
        </p:blipFill>
        <p:spPr>
          <a:xfrm>
            <a:off x="406650" y="5035800"/>
            <a:ext cx="6659301" cy="4552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249360" y="840603"/>
            <a:ext cx="6816600" cy="108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6. Open mysql sample:</a:t>
            </a:r>
            <a:endParaRPr/>
          </a:p>
          <a:p>
            <a:pPr indent="0" lvl="0" marL="0" rtl="0" algn="l">
              <a:spcBef>
                <a:spcPts val="0"/>
              </a:spcBef>
              <a:spcAft>
                <a:spcPts val="0"/>
              </a:spcAft>
              <a:buNone/>
            </a:pPr>
            <a:r>
              <a:t/>
            </a:r>
            <a:endParaRPr/>
          </a:p>
        </p:txBody>
      </p:sp>
      <p:sp>
        <p:nvSpPr>
          <p:cNvPr id="85" name="Google Shape;85;p17"/>
          <p:cNvSpPr txBox="1"/>
          <p:nvPr>
            <p:ph idx="1" type="body"/>
          </p:nvPr>
        </p:nvSpPr>
        <p:spPr>
          <a:xfrm>
            <a:off x="249350" y="3872274"/>
            <a:ext cx="6816600" cy="475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FTP destination:662014</a:t>
            </a:r>
            <a:endParaRPr/>
          </a:p>
          <a:p>
            <a:pPr indent="0" lvl="0" marL="0" rtl="0" algn="l">
              <a:spcBef>
                <a:spcPts val="1200"/>
              </a:spcBef>
              <a:spcAft>
                <a:spcPts val="0"/>
              </a:spcAft>
              <a:buNone/>
            </a:pPr>
            <a:r>
              <a:rPr lang="en"/>
              <a:t>MYsql destination:3306</a:t>
            </a:r>
            <a:endParaRPr/>
          </a:p>
          <a:p>
            <a:pPr indent="0" lvl="0" marL="0" rtl="0" algn="l">
              <a:spcBef>
                <a:spcPts val="1200"/>
              </a:spcBef>
              <a:spcAft>
                <a:spcPts val="0"/>
              </a:spcAft>
              <a:buNone/>
            </a:pPr>
            <a:r>
              <a:rPr lang="en"/>
              <a:t>The destination ports are different.</a:t>
            </a:r>
            <a:endParaRPr/>
          </a:p>
          <a:p>
            <a:pPr indent="0" lvl="0" marL="0" rtl="0" algn="l">
              <a:spcBef>
                <a:spcPts val="1200"/>
              </a:spcBef>
              <a:spcAft>
                <a:spcPts val="0"/>
              </a:spcAft>
              <a:buNone/>
            </a:pPr>
            <a:r>
              <a:rPr lang="en"/>
              <a:t>The operating systems uses the IP address and port numbers of each TCP connection to perform demultiplexing.this allows it to allows to identify the correct and socket and deliver each packet to the appropriate application.</a:t>
            </a:r>
            <a:endParaRPr/>
          </a:p>
          <a:p>
            <a:pPr indent="0" lvl="0" marL="0" rtl="0" algn="l">
              <a:spcBef>
                <a:spcPts val="1200"/>
              </a:spcBef>
              <a:spcAft>
                <a:spcPts val="1200"/>
              </a:spcAft>
              <a:buNone/>
            </a:pPr>
            <a:r>
              <a:t/>
            </a:r>
            <a:endParaRPr/>
          </a:p>
        </p:txBody>
      </p:sp>
      <p:pic>
        <p:nvPicPr>
          <p:cNvPr id="86" name="Google Shape;86;p17" title="Screenshot 2026-08-20 221835.png"/>
          <p:cNvPicPr preferRelativeResize="0"/>
          <p:nvPr/>
        </p:nvPicPr>
        <p:blipFill>
          <a:blip r:embed="rId3">
            <a:alphaModFix/>
          </a:blip>
          <a:stretch>
            <a:fillRect/>
          </a:stretch>
        </p:blipFill>
        <p:spPr>
          <a:xfrm>
            <a:off x="109900" y="1774525"/>
            <a:ext cx="7205302" cy="188805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249360" y="840603"/>
            <a:ext cx="6816600" cy="108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Challenges set 3:TCP vs UDP  comparison</a:t>
            </a:r>
            <a:endParaRPr/>
          </a:p>
        </p:txBody>
      </p:sp>
      <p:sp>
        <p:nvSpPr>
          <p:cNvPr id="92" name="Google Shape;92;p18"/>
          <p:cNvSpPr txBox="1"/>
          <p:nvPr>
            <p:ph idx="1" type="body"/>
          </p:nvPr>
        </p:nvSpPr>
        <p:spPr>
          <a:xfrm>
            <a:off x="249360" y="2176897"/>
            <a:ext cx="6816600" cy="64533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TCP has a larger header than UDP. The minimum TCP header size is 20 bytes, while the UDP header is 8 bytes.</a:t>
            </a:r>
            <a:endParaRPr/>
          </a:p>
          <a:p>
            <a:pPr indent="0" lvl="0" marL="0" rtl="0" algn="l">
              <a:spcBef>
                <a:spcPts val="1200"/>
              </a:spcBef>
              <a:spcAft>
                <a:spcPts val="0"/>
              </a:spcAft>
              <a:buNone/>
            </a:pPr>
            <a:r>
              <a:rPr lang="en"/>
              <a:t> TCP provides reliability features such as sequence numbers, acknowledgement numbers, flags, and window size. UDP does not provide sequence numbers or acknowledgement numbers</a:t>
            </a:r>
            <a:endParaRPr/>
          </a:p>
          <a:p>
            <a:pPr indent="0" lvl="0" marL="0" rtl="0" algn="l">
              <a:spcBef>
                <a:spcPts val="1200"/>
              </a:spcBef>
              <a:spcAft>
                <a:spcPts val="0"/>
              </a:spcAft>
              <a:buNone/>
            </a:pPr>
            <a:r>
              <a:rPr lang="en"/>
              <a:t>. TCP is connection-oriented, while UDP is connectionless. The FTP sample shows TCP sequence and acknowledgement numbers, whereas the DNS sample using UDP does not contain these fields. </a:t>
            </a:r>
            <a:endParaRPr/>
          </a:p>
          <a:p>
            <a:pPr indent="0" lvl="0" marL="0" rtl="0" algn="l">
              <a:spcBef>
                <a:spcPts val="1200"/>
              </a:spcBef>
              <a:spcAft>
                <a:spcPts val="0"/>
              </a:spcAft>
              <a:buNone/>
            </a:pPr>
            <a:r>
              <a:rPr lang="en"/>
              <a:t>8. From the FTP sample: o Point out any fields that show TCP’s duty of providing reliability and flow control.</a:t>
            </a:r>
            <a:endParaRPr/>
          </a:p>
          <a:p>
            <a:pPr indent="0" lvl="0" marL="0" rtl="0" algn="l">
              <a:spcBef>
                <a:spcPts val="1200"/>
              </a:spcBef>
              <a:spcAft>
                <a:spcPts val="0"/>
              </a:spcAft>
              <a:buNone/>
            </a:pPr>
            <a:r>
              <a:rPr lang="en"/>
              <a:t> The FTP TCP header contains several fields that provide reliability and flow control:</a:t>
            </a:r>
            <a:endParaRPr/>
          </a:p>
          <a:p>
            <a:pPr indent="0" lvl="0" marL="0" rtl="0" algn="l">
              <a:spcBef>
                <a:spcPts val="1200"/>
              </a:spcBef>
              <a:spcAft>
                <a:spcPts val="0"/>
              </a:spcAft>
              <a:buNone/>
            </a:pPr>
            <a:r>
              <a:rPr lang="en"/>
              <a:t> • Sequence Number: 0x836F4FFE — helps maintain the correct order of data.</a:t>
            </a:r>
            <a:endParaRPr/>
          </a:p>
          <a:p>
            <a:pPr indent="0" lvl="0" marL="0" rtl="0" algn="l">
              <a:spcBef>
                <a:spcPts val="1200"/>
              </a:spcBef>
              <a:spcAft>
                <a:spcPts val="0"/>
              </a:spcAft>
              <a:buNone/>
            </a:pPr>
            <a:r>
              <a:rPr lang="en"/>
              <a:t>  • Acknowledgement Number: 0x04846EDA — acknowledges received data.</a:t>
            </a:r>
            <a:endParaRPr/>
          </a:p>
          <a:p>
            <a:pPr indent="0" lvl="0" marL="0" rtl="0" algn="l">
              <a:spcBef>
                <a:spcPts val="1200"/>
              </a:spcBef>
              <a:spcAft>
                <a:spcPts val="0"/>
              </a:spcAft>
              <a:buNone/>
            </a:pPr>
            <a:r>
              <a:rPr lang="en"/>
              <a:t>  • ACK Flag: Set — indicates that acknowledgement information is presen</a:t>
            </a:r>
            <a:endParaRPr/>
          </a:p>
          <a:p>
            <a:pPr indent="0" lvl="0" marL="0" rtl="0" algn="l">
              <a:spcBef>
                <a:spcPts val="1200"/>
              </a:spcBef>
              <a:spcAft>
                <a:spcPts val="0"/>
              </a:spcAft>
              <a:buNone/>
            </a:pPr>
            <a:r>
              <a:rPr lang="en"/>
              <a:t>t.  • Window Size: 1448 — provides flow control by indicating the amount of data the receiver can accept</a:t>
            </a:r>
            <a:endParaRPr/>
          </a:p>
          <a:p>
            <a:pPr indent="0" lvl="0" marL="0" rtl="0" algn="l">
              <a:spcBef>
                <a:spcPts val="1200"/>
              </a:spcBef>
              <a:spcAft>
                <a:spcPts val="1200"/>
              </a:spcAft>
              <a:buNone/>
            </a:pPr>
            <a:r>
              <a:rPr lang="en"/>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249360" y="840603"/>
            <a:ext cx="6816600" cy="1081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Therefore, Sequence Number and Acknowledgement Number support reliability, while Window Size provides flow control.</a:t>
            </a:r>
            <a:endParaRPr/>
          </a:p>
        </p:txBody>
      </p:sp>
      <p:sp>
        <p:nvSpPr>
          <p:cNvPr id="98" name="Google Shape;98;p19"/>
          <p:cNvSpPr txBox="1"/>
          <p:nvPr>
            <p:ph idx="1" type="body"/>
          </p:nvPr>
        </p:nvSpPr>
        <p:spPr>
          <a:xfrm>
            <a:off x="249360" y="2176897"/>
            <a:ext cx="6816600" cy="645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Challenges set 4: modern transport</a:t>
            </a:r>
            <a:endParaRPr/>
          </a:p>
          <a:p>
            <a:pPr indent="0" lvl="0" marL="0" rtl="0" algn="l">
              <a:spcBef>
                <a:spcPts val="1200"/>
              </a:spcBef>
              <a:spcAft>
                <a:spcPts val="0"/>
              </a:spcAft>
              <a:buNone/>
            </a:pPr>
            <a:r>
              <a:rPr lang="en"/>
              <a:t>Sample to use:QUIC</a:t>
            </a:r>
            <a:endParaRPr/>
          </a:p>
          <a:p>
            <a:pPr indent="0" lvl="0" marL="0" rtl="0" algn="l">
              <a:spcBef>
                <a:spcPts val="1200"/>
              </a:spcBef>
              <a:spcAft>
                <a:spcPts val="0"/>
              </a:spcAft>
              <a:buNone/>
            </a:pPr>
            <a:r>
              <a:rPr lang="en"/>
              <a:t>Underlying Transport Protocol: </a:t>
            </a:r>
            <a:endParaRPr/>
          </a:p>
          <a:p>
            <a:pPr indent="0" lvl="0" marL="0" rtl="0" algn="l">
              <a:spcBef>
                <a:spcPts val="1200"/>
              </a:spcBef>
              <a:spcAft>
                <a:spcPts val="0"/>
              </a:spcAft>
              <a:buNone/>
            </a:pPr>
            <a:r>
              <a:rPr lang="en"/>
              <a:t>UDP Destination Port:443</a:t>
            </a:r>
            <a:endParaRPr/>
          </a:p>
          <a:p>
            <a:pPr indent="0" lvl="0" marL="0" rtl="0" algn="l">
              <a:spcBef>
                <a:spcPts val="1200"/>
              </a:spcBef>
              <a:spcAft>
                <a:spcPts val="1200"/>
              </a:spcAft>
              <a:buNone/>
            </a:pPr>
            <a:r>
              <a:rPr lang="en"/>
              <a:t> QUIC runs over UDP but provides its own transport features, including reliability and connection management. Unlike classic TCP, QUIC does not use the TCP protocol and header; it uses UDP as its underlying transport. </a:t>
            </a:r>
            <a:endParaRPr/>
          </a:p>
        </p:txBody>
      </p:sp>
      <p:pic>
        <p:nvPicPr>
          <p:cNvPr id="99" name="Google Shape;99;p19" title="Screenshot 2026-08-20 223140.png"/>
          <p:cNvPicPr preferRelativeResize="0"/>
          <p:nvPr/>
        </p:nvPicPr>
        <p:blipFill>
          <a:blip r:embed="rId3">
            <a:alphaModFix/>
          </a:blip>
          <a:stretch>
            <a:fillRect/>
          </a:stretch>
        </p:blipFill>
        <p:spPr>
          <a:xfrm>
            <a:off x="466000" y="2298105"/>
            <a:ext cx="3585800" cy="1949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641614" y="840603"/>
            <a:ext cx="6424200" cy="108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05" name="Google Shape;105;p20"/>
          <p:cNvSpPr txBox="1"/>
          <p:nvPr>
            <p:ph idx="1" type="body"/>
          </p:nvPr>
        </p:nvSpPr>
        <p:spPr>
          <a:xfrm>
            <a:off x="249360" y="2176897"/>
            <a:ext cx="6816600" cy="6453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6" name="Google Shape;106;p20" title="Screenshot 2026-08-20 223554.png"/>
          <p:cNvPicPr preferRelativeResize="0"/>
          <p:nvPr/>
        </p:nvPicPr>
        <p:blipFill>
          <a:blip r:embed="rId3">
            <a:alphaModFix/>
          </a:blip>
          <a:stretch>
            <a:fillRect/>
          </a:stretch>
        </p:blipFill>
        <p:spPr>
          <a:xfrm>
            <a:off x="406651" y="72400"/>
            <a:ext cx="6424340" cy="2104500"/>
          </a:xfrm>
          <a:prstGeom prst="rect">
            <a:avLst/>
          </a:prstGeom>
          <a:noFill/>
          <a:ln>
            <a:noFill/>
          </a:ln>
        </p:spPr>
      </p:pic>
      <p:pic>
        <p:nvPicPr>
          <p:cNvPr id="107" name="Google Shape;107;p20" title="Screenshot 2026-08-20 223727.png"/>
          <p:cNvPicPr preferRelativeResize="0"/>
          <p:nvPr/>
        </p:nvPicPr>
        <p:blipFill>
          <a:blip r:embed="rId4">
            <a:alphaModFix/>
          </a:blip>
          <a:stretch>
            <a:fillRect/>
          </a:stretch>
        </p:blipFill>
        <p:spPr>
          <a:xfrm>
            <a:off x="483229" y="2483475"/>
            <a:ext cx="2561100" cy="13049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